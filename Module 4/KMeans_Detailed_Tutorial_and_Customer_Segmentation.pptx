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594360"/>
            <a:ext cx="1965960" cy="1965960"/>
          </a:xfrm>
          <a:prstGeom prst="ellipse">
            <a:avLst/>
          </a:prstGeom>
          <a:solidFill>
            <a:srgbClr val="3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057400"/>
            <a:ext cx="1325880" cy="1325880"/>
          </a:xfrm>
          <a:prstGeom prst="ellipse">
            <a:avLst/>
          </a:prstGeom>
          <a:solidFill>
            <a:srgbClr val="14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2926080"/>
            <a:ext cx="822960" cy="822960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3794760"/>
            <a:ext cx="658368" cy="658368"/>
          </a:xfrm>
          <a:prstGeom prst="ellipse">
            <a:avLst/>
          </a:prstGeom>
          <a:solidFill>
            <a:srgbClr val="698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22960"/>
            <a:ext cx="685800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76DCD3"/>
                </a:solidFill>
                <a:latin typeface="Aptos"/>
              </a:defRPr>
            </a:pPr>
            <a:r>
              <a:t>UNSUPERVISED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406640" cy="1417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3900" b="1">
                <a:solidFill>
                  <a:srgbClr val="FFFFFF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694944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DAE5F4"/>
                </a:solidFill>
                <a:latin typeface="Aptos"/>
              </a:defRPr>
            </a:pPr>
            <a:r>
              <a:t>Detailed concepts, mathematics, algorithm &amp;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6583680" cy="9144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EC1DA"/>
                </a:solidFill>
                <a:latin typeface="Aptos"/>
              </a:defRPr>
            </a:pPr>
            <a:r>
              <a:t>From centroid intuition to a customer segmentation mini-project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77724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AEC1DA"/>
                </a:solidFill>
                <a:latin typeface="Aptos"/>
              </a:defRPr>
            </a:pPr>
            <a:r>
              <a:t>Includes complete practical code for customers.csv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What this presentation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Detailed coverage of the first four tutorial points plus the complete customer segmentation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2900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4708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1.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194560"/>
            <a:ext cx="3136392" cy="8869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What K-Means is, where it is used, and what a cluster means.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429000" cy="141732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84708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2. Intuition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194560"/>
            <a:ext cx="3136392" cy="8869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The four-stage loop: initialize, assign, update, repeat.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184708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3. Mathematics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194560"/>
            <a:ext cx="3136392" cy="8869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Euclidean distance, centroid calculation, and WCSS objective.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79"/>
            <a:ext cx="3429000" cy="141732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721607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4.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069079"/>
            <a:ext cx="3136392" cy="8869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Pseudocode, convergence, initialization, and limitations.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611879"/>
            <a:ext cx="3429000" cy="141732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721607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5. Hands-on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069079"/>
            <a:ext cx="3136392" cy="8869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Load data, scale features, fit, evaluate, profile, and visualize.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1. What is K-Means clustering?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 partition-based unsupervised learning algorithm.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120640" cy="7315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8274B"/>
                </a:solidFill>
                <a:latin typeface="Aptos"/>
              </a:defRPr>
            </a:pPr>
            <a:r>
              <a:t>K-Means divides observations into K groups called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120640" cy="246888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K is chosen before the model is fitted.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Each observation belongs to exactly one cluster.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Each cluster is represented by a centroid (the mean position).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The algorithm tries to keep points close to their own centroid.</a:t>
            </a:r>
          </a:p>
        </p:txBody>
      </p:sp>
      <p:pic>
        <p:nvPicPr>
          <p:cNvPr id="9" name="Picture 8" descr="raw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166360" cy="3246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09360" y="5074920"/>
            <a:ext cx="4892040" cy="713232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5184648"/>
            <a:ext cx="4599431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5532120"/>
            <a:ext cx="4599431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Group customers using age, annual income, and spending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What can a customer cluster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Cluster labels are discovered by the algorithm; their business meaning is interpreted afterwards.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Cluster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83142"/>
                </a:solidFill>
                <a:latin typeface="Aptos"/>
              </a:defRPr>
            </a:pPr>
            <a:r>
              <a:t>Potentially lower income and lower spending.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37160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Cluster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83142"/>
                </a:solidFill>
                <a:latin typeface="Aptos"/>
              </a:defRPr>
            </a:pPr>
            <a:r>
              <a:t>Potentially higher income and higher spending.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Cluster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83142"/>
                </a:solidFill>
                <a:latin typeface="Aptos"/>
              </a:defRPr>
            </a:pPr>
            <a:r>
              <a:t>Potentially higher income and lower spending.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241280" cy="128016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These are examples, not guaranteed outcomes—the real profiles depend on the dataset.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Cluster numbers such as 0, 1, and 2 are arbitrary identifiers, not rankings.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2. How K-Means works intuitively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The model repeatedly assigns points to their nearest center and updates the centers.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4160520" cy="786384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01368"/>
            <a:ext cx="3867911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1. Initialize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48840"/>
            <a:ext cx="3867911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Choose K starting centroids.</a:t>
            </a:r>
          </a:p>
        </p:txBody>
      </p:sp>
      <p:pic>
        <p:nvPicPr>
          <p:cNvPr id="10" name="Picture 9" descr="init_centro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81912"/>
            <a:ext cx="5120640" cy="960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" y="2743200"/>
            <a:ext cx="4160520" cy="786384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852928"/>
            <a:ext cx="3867911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2. Assign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00400"/>
            <a:ext cx="3867911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Find the nearest centroid for every observation.</a:t>
            </a:r>
          </a:p>
        </p:txBody>
      </p:sp>
      <p:pic>
        <p:nvPicPr>
          <p:cNvPr id="14" name="Picture 13" descr="ass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633472"/>
            <a:ext cx="5120640" cy="960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3794760"/>
            <a:ext cx="4160520" cy="786384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904488"/>
            <a:ext cx="3867911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3.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4251960"/>
            <a:ext cx="3867911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Calculate the mean of points in each cluster.</a:t>
            </a:r>
          </a:p>
        </p:txBody>
      </p:sp>
      <p:pic>
        <p:nvPicPr>
          <p:cNvPr id="18" name="Picture 17" descr="centroid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685032"/>
            <a:ext cx="5120640" cy="960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77240" y="4846320"/>
            <a:ext cx="4160520" cy="786384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956048"/>
            <a:ext cx="3867911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4.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303520"/>
            <a:ext cx="3867911" cy="2560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Stop when centers stabilize or the iteration limit is reached.</a:t>
            </a:r>
          </a:p>
        </p:txBody>
      </p:sp>
      <p:pic>
        <p:nvPicPr>
          <p:cNvPr id="22" name="Picture 21" descr="final_clust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736592"/>
            <a:ext cx="5120640" cy="960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Step 1 — Initialize centroids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Choose K initial centers; K-Means++ is generally preferred over naive random initialization.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it_centro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965960"/>
            <a:ext cx="3749039" cy="228600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142"/>
                </a:solidFill>
                <a:latin typeface="Aptos"/>
              </a:defRPr>
            </a:pPr>
            <a:r>
              <a:t>•  The starting positions influence the final solution.</a:t>
            </a:r>
          </a:p>
          <a:p>
            <a:pPr>
              <a:spcAft>
                <a:spcPts val="800"/>
              </a:spcAft>
              <a:defRPr sz="1500">
                <a:solidFill>
                  <a:srgbClr val="283142"/>
                </a:solidFill>
                <a:latin typeface="Aptos"/>
              </a:defRPr>
            </a:pPr>
            <a:r>
              <a:t>•  K-Means++ spreads initial centers using distances from existing centers.</a:t>
            </a:r>
          </a:p>
          <a:p>
            <a:pPr>
              <a:spcAft>
                <a:spcPts val="800"/>
              </a:spcAft>
              <a:defRPr sz="1500">
                <a:solidFill>
                  <a:srgbClr val="283142"/>
                </a:solidFill>
                <a:latin typeface="Aptos"/>
              </a:defRPr>
            </a:pPr>
            <a:r>
              <a:t>•  Multiple initializations help reduce sensitivity to a poor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Step 2 — Assign each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Every point is assigned to the nearest centroid using a distance measure.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537960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28800"/>
            <a:ext cx="379476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0104" y="1938528"/>
            <a:ext cx="35021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Nearest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0104" y="2286000"/>
            <a:ext cx="3502152" cy="6126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Calculate each point’s distance to all K centroids and choose the smallest.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246120"/>
            <a:ext cx="3794760" cy="114300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3355848"/>
            <a:ext cx="35021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0104" y="3703320"/>
            <a:ext cx="3502152" cy="6126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Every observation receives a cluster label from 0 to K−1.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3. Mathematics: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For numerical features, K-Means commonly uses Euclidean distance.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7607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828800"/>
            <a:ext cx="466344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8274B"/>
                </a:solidFill>
                <a:latin typeface="Aptos"/>
              </a:defRPr>
            </a:pPr>
            <a:r>
              <a:t>For p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31720"/>
            <a:ext cx="466344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305CAA"/>
                </a:solidFill>
                <a:latin typeface="Aptos"/>
              </a:defRPr>
            </a:pPr>
            <a:r>
              <a:t>d(X, C) = √Σᵣ (xᵣ − cᵣ)²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246120"/>
            <a:ext cx="466344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8274B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657600"/>
            <a:ext cx="4754880" cy="11430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X = (2, 3)</a:t>
            </a:r>
          </a:p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C₁ = (1, 2) → d = √2 ≈ 1.41</a:t>
            </a:r>
          </a:p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C₂ = (5, 6) → d = √18 ≈ 4.24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5029200"/>
            <a:ext cx="4572000" cy="658368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144" y="5138928"/>
            <a:ext cx="4279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5486400"/>
            <a:ext cx="4279392" cy="128016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Assign X to C₁ because it is closer.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3. Mathematics: calculating a centroid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 centroid is the mean of the observations assigned to a cluster.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ntroid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7607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8274B"/>
                </a:solidFill>
                <a:latin typeface="Aptos"/>
              </a:defRPr>
            </a:pPr>
            <a:r>
              <a:t>Centroid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31720"/>
            <a:ext cx="4572000" cy="59436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305CAA"/>
                </a:solidFill>
                <a:latin typeface="Aptos"/>
              </a:defRPr>
            </a:pPr>
            <a:r>
              <a:t>μₖ = (1 / nₖ) Σ Xᵢ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246120"/>
            <a:ext cx="4572000" cy="10972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Points: (2, 4), (4, 6), (6, 8)</a:t>
            </a:r>
          </a:p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Mean x = (2 + 4 + 6) / 3 = 4</a:t>
            </a:r>
          </a:p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Mean y = (4 + 6 + 8) / 3 =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800600"/>
            <a:ext cx="4572000" cy="73152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67144" y="4910328"/>
            <a:ext cx="4279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Updated centroid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5257800"/>
            <a:ext cx="4279392" cy="2011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142"/>
                </a:solidFill>
                <a:latin typeface="Aptos"/>
              </a:defRPr>
            </a:pPr>
            <a:r>
              <a:t>μ = (4,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3. Mathematics: objective function (WCSS)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K-Means tries to minimize the total squared distance from each point to its assigned centroid.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305CAA"/>
                </a:solidFill>
                <a:latin typeface="Aptos"/>
              </a:defRPr>
            </a:pPr>
            <a:r>
              <a:t>J = Σₖ Σ₍Xᵢ ∈ Cₖ₎ ||Xᵢ − μₖ||²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241280" cy="182880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Cₖ is the set of observations assigned to cluster k.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μₖ is the centroid of cluster k.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The squared distance measures how far an observation is from its cluster center.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In scikit-learn, inertia_ reports this within-cluster sum of squares.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10195560" cy="77724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5138928"/>
            <a:ext cx="99029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5486400"/>
            <a:ext cx="9902952" cy="2468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WCSS decreases as K increases, so do not choose K using inertia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4. K-Means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Assignment and centroid-update steps repeat until convergence.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212080" cy="411480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Input dataset X and cluster count K.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Initialize K centroids (preferably K-Means++).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Assign each point to its nearest centroid.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Recompute each centroid using the feature-wise mean.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Check convergence; repeat if needed.</a:t>
            </a:r>
          </a:p>
          <a:p>
            <a:pPr>
              <a:spcAft>
                <a:spcPts val="800"/>
              </a:spcAft>
              <a:defRPr sz="1600">
                <a:solidFill>
                  <a:srgbClr val="283142"/>
                </a:solidFill>
                <a:latin typeface="Aptos"/>
              </a:defRPr>
            </a:pPr>
            <a:r>
              <a:t>•  Return labels, centroids, and WCSS.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783080"/>
            <a:ext cx="5212080" cy="347472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INPUT: X, K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Initialize K centroids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REPEAT: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    Assign points to nearest centroid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    Recalculate each cluster mean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UNTIL convergence or max iterations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OUTPUT: labels, centroids, WCSS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486400"/>
            <a:ext cx="4983480" cy="59436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5596128"/>
            <a:ext cx="46908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Convergence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5943600"/>
            <a:ext cx="4690872" cy="640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83142"/>
                </a:solidFill>
                <a:latin typeface="Aptos"/>
              </a:defRPr>
            </a:pPr>
            <a:r>
              <a:t>The objective does not increase during standard assignment/update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Why does K-Means converge—and what can go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The algorithm stabilizes, but may only reach a local optimum.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Assignment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For fixed centroids, assigning each point to its nearest center minimizes squared distances.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137160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Update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For fixed assignments, the mean minimizes the sum of squared distances.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29000" cy="137160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Local optimum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286000"/>
            <a:ext cx="3136392" cy="84124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Different initial centers can produce different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149840" cy="137160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142"/>
                </a:solidFill>
                <a:latin typeface="Aptos"/>
              </a:defRPr>
            </a:pPr>
            <a:r>
              <a:t>•  Use K-Means++, multiple starts, and a fixed random_state for reproducible teaching examples.</a:t>
            </a:r>
          </a:p>
          <a:p>
            <a:pPr>
              <a:spcAft>
                <a:spcPts val="800"/>
              </a:spcAft>
              <a:defRPr sz="1500">
                <a:solidFill>
                  <a:srgbClr val="283142"/>
                </a:solidFill>
                <a:latin typeface="Aptos"/>
              </a:defRPr>
            </a:pPr>
            <a:r>
              <a:t>•  K-Means works best for compact, reasonably separated numeric clusters; it is sensitive to outliers and feature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Hands-on project: customer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The included customers.csv contains 500 synthetic customer profiles.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30906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CustomerID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3090672" cy="7955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Unique identifier; do not use it as a clustering feature.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32588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938528"/>
            <a:ext cx="30906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286000"/>
            <a:ext cx="3090672" cy="7955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Customer age in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938528"/>
            <a:ext cx="30906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Annual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286000"/>
            <a:ext cx="3090672" cy="7955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Annual income in rupees.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657600"/>
            <a:ext cx="3383280" cy="132588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3767328"/>
            <a:ext cx="30906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Spending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4114800"/>
            <a:ext cx="3090672" cy="7955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A score from 1 to 100.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33832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767328"/>
            <a:ext cx="30906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114800"/>
            <a:ext cx="3090672" cy="79552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Find groups with similar numerical profiles, then describe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C7E"/>
                </a:solidFill>
                <a:latin typeface="Aptos"/>
              </a:defRPr>
            </a:pPr>
            <a:r>
              <a:t>Synthetic data for practice—not real customer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Python implementation 1 — load and inspect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Keep customers.csv in the same working directory as your notebook or script.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400800" cy="434340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df = pd.read_csv("customers.csv")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print(df.head())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print(df.info())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print(df.describe())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features = [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    "Age",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    "Annual Income",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    "Spending Score"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E0EBF8"/>
                </a:solidFill>
                <a:latin typeface="Consolas"/>
              </a:defRPr>
            </a:pPr>
            <a:r>
              <a:t>X = df[features].dropna()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920240"/>
            <a:ext cx="384048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98664" y="2029968"/>
            <a:ext cx="35478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Inspect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8664" y="2377440"/>
            <a:ext cx="3547872" cy="6583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Confirm column names, data types, ranges, and missing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383280"/>
            <a:ext cx="3840480" cy="118872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4" y="3493008"/>
            <a:ext cx="35478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Exclude CustomerID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3840480"/>
            <a:ext cx="3547872" cy="6583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IDs identify rows; they do not represent customer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Python implementation 2 — scale and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Scaling helps stop features with large numeric ranges from dominating Euclidean distance.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7040880" cy="452628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from sklearn.cluster import KMeans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X_scaled = scaler.fit_transform(X)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model = KMeans(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n_clusters=4,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init="k-means++",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n_init=10,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random_state=42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labels = model.fit_predict(X_scaled)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df_clustered = df.loc[X.index].copy()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df_clustered["Cluster"] = labels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print("Inertia:", model.inertia_)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print("Iterations:", model.n_iter_)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3756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938528"/>
            <a:ext cx="30449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n_clusters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286000"/>
            <a:ext cx="3044952" cy="521207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Example only—compare candidate values of 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337560" cy="105156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3218688"/>
            <a:ext cx="30449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n_init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3566160"/>
            <a:ext cx="3044952" cy="521207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Run multiple initializations and keep the best 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389120"/>
            <a:ext cx="3337560" cy="105156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498848"/>
            <a:ext cx="304495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random_state =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846320"/>
            <a:ext cx="3044952" cy="521207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Makes initialization reproducible.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Python implementation 3 — evaluate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Use metrics alongside cluster summaries to decide whether the segmentation is useful.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6949440" cy="411480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from sklearn.metrics import silhouette_score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print(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"Silhouette Score:",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silhouette_score(X_scaled, labels)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print(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df_clustered.groupby("Cluster")[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    ["Age", "Annual Income", "Spending Score"]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].mean().round(1)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print(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df_clustered["Cluster"].value_counts().sort_index()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2900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3" y="193852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Silhouette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583" y="2286000"/>
            <a:ext cx="3136392" cy="7040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Ranges from −1 to +1; higher is generally better for comparable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337560"/>
            <a:ext cx="3429000" cy="123444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3447288"/>
            <a:ext cx="313639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Cluster averages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3794760"/>
            <a:ext cx="3136392" cy="70408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142"/>
                </a:solidFill>
                <a:latin typeface="Aptos"/>
              </a:defRPr>
            </a:pPr>
            <a:r>
              <a:t>Reveal the typical age, income, and spending profile for each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Python implementation 4 — visualize the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Plot annual income against spending score to inspect two dimensions at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6675120" cy="425196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plt.figure(figsize=(8, 5))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plt.scatter(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df_clustered["Annual Income"],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df_clustered["Spending Score"],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c=labels,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cmap="viridis",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s=45,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    alpha=0.8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plt.xlabel("Annual Income (₹)")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plt.ylabel("Spending Score")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plt.title("Customer Segmentation using K-Means")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spcAft>
                <a:spcPts val="0"/>
              </a:spcAft>
              <a:defRPr sz="1300">
                <a:solidFill>
                  <a:srgbClr val="E0EBF8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920240"/>
            <a:ext cx="3611880" cy="1188720"/>
          </a:xfrm>
          <a:prstGeom prst="roundRect">
            <a:avLst/>
          </a:prstGeom>
          <a:solidFill>
            <a:srgbClr val="EFF5FC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2983" y="2029968"/>
            <a:ext cx="33192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5CAA"/>
                </a:solidFill>
                <a:latin typeface="Aptos"/>
              </a:defRPr>
            </a:pPr>
            <a: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2377440"/>
            <a:ext cx="3319272" cy="6583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Look for groups with distinct income and spending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383280"/>
            <a:ext cx="3611880" cy="1188720"/>
          </a:xfrm>
          <a:prstGeom prst="roundRect">
            <a:avLst/>
          </a:prstGeom>
          <a:solidFill>
            <a:srgbClr val="E2F6F4"/>
          </a:solidFill>
          <a:ln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3493008"/>
            <a:ext cx="3319272" cy="29260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4918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2983" y="3840480"/>
            <a:ext cx="3319272" cy="658368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3142"/>
                </a:solidFill>
                <a:latin typeface="Aptos"/>
              </a:defRPr>
            </a:pPr>
            <a:r>
              <a:t>This plot shows two features; the model was trained on three.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0972800" cy="22860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4918C"/>
                </a:solidFill>
                <a:latin typeface="Aptos"/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75488"/>
            <a:ext cx="11155680" cy="48463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8274B"/>
                </a:solidFill>
                <a:latin typeface="Aptos"/>
              </a:defRPr>
            </a:pPr>
            <a:r>
              <a:t>Optional — choose K with the Elbow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10972800" cy="34747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Compare inertia across several candidate values of 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99032"/>
            <a:ext cx="11018520" cy="22860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76072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737360"/>
            <a:ext cx="4709160" cy="3611880"/>
          </a:xfrm>
          <a:prstGeom prst="roundRect">
            <a:avLst/>
          </a:prstGeom>
          <a:solidFill>
            <a:srgbClr val="19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5448" rIns="118872" tIns="109728" bIns="73152"/>
          <a:lstStyle/>
          <a:p>
            <a:pPr algn="ctr"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inertias = []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k_values = range(1, 11)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for k in k_values: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model_k = KMeans(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    n_clusters=k,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    n_init=10,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    random_state=42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model_k.fit(X_scaled)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    inertias.append(model_k.inertia_)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plt.plot(k_values, inertias, marker="o")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plt.xlabel("K")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plt.ylabel("Inertia")</a:t>
            </a:r>
          </a:p>
          <a:p>
            <a:pPr>
              <a:spcAft>
                <a:spcPts val="0"/>
              </a:spcAft>
              <a:defRPr sz="1100">
                <a:solidFill>
                  <a:srgbClr val="E0EBF8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40680"/>
            <a:ext cx="10241280" cy="4114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918C"/>
                </a:solidFill>
                <a:latin typeface="Aptos"/>
              </a:defRPr>
            </a:pPr>
            <a:r>
              <a:t>Choose a bend where extra clusters give smaller improvements; confirm with silhouette and domain knowledge.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32004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6DCD3"/>
                </a:solidFill>
                <a:latin typeface="Aptos"/>
              </a:defRPr>
            </a:pPr>
            <a:r>
              <a:t>RECAP &amp; PRACTICAL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From algorithm to useful customer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241280" cy="3200400"/>
          </a:xfrm>
          <a:prstGeom prst="rect">
            <a:avLst/>
          </a:prstGeom>
          <a:noFill/>
        </p:spPr>
        <p:txBody>
          <a:bodyPr wrap="square" lIns="36576" rIns="54864" tIns="36576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K-Means alternates nearest-centroid assignment and mean-based updates.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Its objective is to minimize within-cluster squared distances (WCSS).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Scaling, initialization, outliers, and the choice of K influence results.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Use the Elbow Method, silhouette score, and cluster profiles together.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Interpret the segments in the context of the customer/business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EC1DA"/>
                </a:solidFill>
                <a:latin typeface="Aptos"/>
              </a:defRPr>
            </a:pPr>
            <a:r>
              <a:t>Files needed: this presentation + customers.csv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5F6C7E"/>
                </a:solidFill>
                <a:latin typeface="Aptos"/>
              </a:defRPr>
            </a:pPr>
            <a:r>
              <a:t>UNSUPERVISED LEARNING  •  CUSTOMER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64008" rIns="64008" tIns="64008" bIns="64008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F6C7E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