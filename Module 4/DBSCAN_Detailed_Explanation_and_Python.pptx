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731520"/>
            <a:ext cx="1828800" cy="1828800"/>
          </a:xfrm>
          <a:prstGeom prst="ellipse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828800"/>
            <a:ext cx="1097280" cy="109728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2743200"/>
            <a:ext cx="594360" cy="594360"/>
          </a:xfrm>
          <a:prstGeom prst="ellipse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0" y="3657600"/>
            <a:ext cx="502920" cy="502920"/>
          </a:xfrm>
          <a:prstGeom prst="ellipse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0" y="4297680"/>
            <a:ext cx="914400" cy="914400"/>
          </a:xfrm>
          <a:prstGeom prst="ellipse">
            <a:avLst/>
          </a:prstGeom>
          <a:solidFill>
            <a:srgbClr val="3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7132320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DBSCAN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685800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000" b="0">
                <a:solidFill>
                  <a:srgbClr val="D6E1EF"/>
                </a:solidFill>
                <a:latin typeface="Aptos"/>
              </a:rPr>
              <a:t>Mathematical intuition • Algorithm • Python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68580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00" b="0">
                <a:solidFill>
                  <a:srgbClr val="B6C7DB"/>
                </a:solidFill>
                <a:latin typeface="Aptos"/>
              </a:rPr>
              <a:t>A practical guide to density-based unsupervised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17920"/>
            <a:ext cx="6400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00" b="0">
                <a:solidFill>
                  <a:srgbClr val="B6C7DB"/>
                </a:solidFill>
                <a:latin typeface="Aptos"/>
              </a:rPr>
              <a:t>Learning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Understand how DBSCAN forms clusters using local density.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Explain epsilon (eps), min_samples, core points, border points and noise.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Follow the mathematical ideas of distance, density reachability and connectivity.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Implement DBSCAN in Python with scikit-learn.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Select parameters, evaluate results and compare DBSCAN with other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What is DBSCAN?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DBSCAN = Density-Based Spatial Clustering of Applications with Noise.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An unsupervised learning algorithm that groups observations in dense regions.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Does not require the number of clusters to be specified in advance.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Can discover irregularly shaped clusters and flag isolated observations as noise.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Unlike K-Means, it does not assign every point to the nearest centroid.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Core idea: density, not centroids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Dense neighborhoods are the building blocks of clusters.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Nearby dense regions can connect to form one larger cluster.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Sparse, isolated observations may be classified as noise.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A chain of nearby core points can trace curved shapes such as moons or rings.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Caution: a chain of core points can also merge two clusters that are too 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The two key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eps (ε): maximum distance for two points to count as neighbors.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min_samples: minimum number of observations in a point’s ε-neighborhood to make it a core point.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In scikit-learn, the point itself counts toward min_samples.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Small eps: more noise and potentially fragmented clusters.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Large eps: more connections and possible merging of distinct clusters.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Large min_samples: a stricter density requirement.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Mathematical definition of a neighborhood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3069B4"/>
                </a:solidFill>
                <a:latin typeface="Aptos"/>
              </a:rPr>
              <a:t>Nε(p) = { q ∈ D : d(p, q) ≤ ε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10149840" cy="1005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0">
                <a:solidFill>
                  <a:srgbClr val="28303A"/>
                </a:solidFill>
                <a:latin typeface="Aptos"/>
              </a:rPr>
              <a:t>Nε(p) is the set of observations within distance ε of point 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0149840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0">
                <a:solidFill>
                  <a:srgbClr val="5F6C7A"/>
                </a:solidFill>
                <a:latin typeface="Aptos"/>
              </a:rPr>
              <a:t>For Euclidean distance in d dimensions: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600" b="1">
                <a:solidFill>
                  <a:srgbClr val="228B84"/>
                </a:solidFill>
                <a:latin typeface="Aptos"/>
              </a:rPr>
              <a:t>d(p, q) = √[ Σⱼ₌₁ᵈ (pⱼ − qⱼ)²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996696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000" b="0">
                <a:solidFill>
                  <a:srgbClr val="28303A"/>
                </a:solidFill>
                <a:latin typeface="Aptos"/>
              </a:rPr>
              <a:t>A point is a core point when |Nε(p)| ≥ min_samples.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Three types of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CORE POINT: has at least min_samples observations in its ε-neighborhood; can expand a cluster.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BORDER POINT: does not meet the density threshold itself, but lies within the ε-neighborhood of a core point.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NOISE POINT: is neither a core point nor density-reachable from a core point.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In scikit-learn, noise observations receive the label −1.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 point initially marked as noise may later be assigned to a cluster as a border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Numerical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Suppose A=(1.0,1.0), B=(1.2,1.0), C=(1.1,1.2), D=(1.3,1.1), E=(1.2,1.3), F=(4.0,4.0).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Choose ε = 0.5 and min_samples = 4.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A’s neighborhood includes A, B, C and D, so |N₀.₅(A)| = 4 and A is a core point.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The dense group A–E forms a cluster under these settings.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F is far away and has no sufficiently dense neighborhood, so it is noise (label −1).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Distance intuition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For p=(1,2) and q=(4,6): d(p,q) = √[(1−4)² + (2−6)²] = √25 = 5.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If eps = 5, the points are neighbors; if eps = 4, they are not.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The same distance calculation extends across all selected features.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Feature scaling matters because features measured in large units can dominate distance.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Choose the distance metric based on the data and the meaning of similarity.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Density reachability and connectivity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Directly density-reachable: q is in p’s ε-neighborhood and p is a core point.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Density-reachable: a chain of direct density-reachability relationships links points, with core points as the expanding links.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Density-connected: two points can be reached from a suitable common point.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Clusters grow by repeatedly adding points reachable from core points.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This mechanism allows DBSCAN to follow curved or non-convex shapes.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DBSCAN algorithm: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1. Select an unvisited observation.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2. Find all observations within its ε-neighborhood.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3. If there are too few neighbors, mark it as noise provisionally.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4. If it is a core point, create a cluster and expand it through density-reachable points.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5. Continue until all observations have been processed.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DBSCAN does not minimize a centroid-based objective function like K-Means.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Python: imports and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Libraries: numpy, pandas, matplotlib and scikit-learn.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Use sklearn.datasets.make_moons to create two crescent-shaped groups.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Example: X, y_true = make_moons(n_samples=500, noise=0.07, random_state=42).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Create a DataFrame with Feature_1 and Feature_2 for inspection.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Plot the original observations before clustering to understand their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 code: imports and make_moons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F6C7A"/>
                </a:solidFill>
                <a:latin typeface="Aptos"/>
              </a:rPr>
              <a:t>Generate and inspect the sample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663440"/>
          </a:xfrm>
          <a:prstGeom prst="roundRect">
            <a:avLst/>
          </a:prstGeom>
          <a:solidFill>
            <a:srgbClr val="FAFCFE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28303A"/>
                </a:solidFill>
                <a:latin typeface="Consolas"/>
              </a:rPr>
              <a:t>import numpy as np
import pandas as pd
import matplotlib.pyplot as plt
from sklearn.datasets import make_moons
from sklearn.preprocessing import StandardScaler
from sklearn.cluster import DBSCAN
from sklearn.metrics import silhouette_score
X, y_true = make_moons(
    n_samples=500, noise=0.07, random_state=42
)
df = pd.DataFrame(X, columns=["Feature_1", "Feature_2"])
plt.figure(figsize=(8, 5))
plt.scatter(X[:, 0], X[:, 1], s=30)
plt.title("Original Dataset: Two Moons")
plt.xlabel("Feature 1")
plt.ylabel("Feature 2")
plt.show()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 code: scaling and fitting DBSCAN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F6C7A"/>
                </a:solidFill>
                <a:latin typeface="Aptos"/>
              </a:rPr>
              <a:t>Labels: 0, 1, … are clusters; −1 is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663440"/>
          </a:xfrm>
          <a:prstGeom prst="roundRect">
            <a:avLst/>
          </a:prstGeom>
          <a:solidFill>
            <a:srgbClr val="FAFCFE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500">
                <a:solidFill>
                  <a:srgbClr val="28303A"/>
                </a:solidFill>
                <a:latin typeface="Consolas"/>
              </a:rPr>
              <a:t># Standardize the features
scaler = StandardScaler()
X_scaled = scaler.fit_transform(X)
# Fit DBSCAN
dbscan = DBSCAN(
    eps=0.20,
    min_samples=5,
    metric="euclidean"
)
labels = dbscan.fit_predict(X_scaled)
df["Cluster"] = labels
n_clusters = len(set(labels) - {-1})
n_noise = np.sum(labels == -1)
print(df.head())
print(df["Cluster"].value_counts().sort_index())
print("Number of clusters:", n_clusters)
print("Number of noise points:", n_noise)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 code: visualize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F6C7A"/>
                </a:solidFill>
                <a:latin typeface="Aptos"/>
              </a:rPr>
              <a:t>Visualize each cluster and the noise 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663440"/>
          </a:xfrm>
          <a:prstGeom prst="roundRect">
            <a:avLst/>
          </a:prstGeom>
          <a:solidFill>
            <a:srgbClr val="FAFCFE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28303A"/>
                </a:solidFill>
                <a:latin typeface="Consolas"/>
              </a:rPr>
              <a:t>plt.figure(figsize=(9, 6))
for label in sorted(set(labels)):
    mask = labels == label
    if label == -1:
        plt.scatter(
            X_scaled[mask, 0], X_scaled[mask, 1],
            c="black", marker="x", s=45, label="Noise"
        )
    else:
        plt.scatter(
            X_scaled[mask, 0], X_scaled[mask, 1],
            s=35, label=f"Cluster {label}"
        )
plt.title("DBSCAN Clustering on Two Moons")
plt.xlabel("Standardized Feature 1")
plt.ylabel("Standardized Feature 2")
plt.legend()
plt.grid(alpha=0.2)
plt.show()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 code: silhouette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F6C7A"/>
                </a:solidFill>
                <a:latin typeface="Aptos"/>
              </a:rPr>
              <a:t>Use the score carefully; it does not tell the whole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663440"/>
          </a:xfrm>
          <a:prstGeom prst="roundRect">
            <a:avLst/>
          </a:prstGeom>
          <a:solidFill>
            <a:srgbClr val="FAFCFE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500">
                <a:solidFill>
                  <a:srgbClr val="28303A"/>
                </a:solidFill>
                <a:latin typeface="Consolas"/>
              </a:rPr>
              <a:t># Exclude noise points for this calculation
non_noise = labels != -1
labels_kept = labels[non_noise]
X_kept = X_scaled[non_noise]
n_clusters_kept = len(set(labels_kept))
if 2 &lt;= n_clusters_kept &lt; len(X_kept):
    score = silhouette_score(X_kept, labels_kept)
    print("Silhouette Score:", round(score, 4))
else:
    print("Silhouette score is not defined here.")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Choosing eps: the k-distance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A practical heuristic is to inspect the distance to each point’s k-th nearest neighbor.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For min_samples = 5, calculate the fifth-nearest-neighbor distance for every point.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Sort the distances and plot them from smallest to largest.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A sharp bend can suggest a candidate eps value separating dense areas from sparse areas.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The elbow is only a heuristic: test nearby values and inspect cluster quality and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 code: k-distance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F6C7A"/>
                </a:solidFill>
                <a:latin typeface="Aptos"/>
              </a:rPr>
              <a:t>Use the bend as a candidate, then 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663440"/>
          </a:xfrm>
          <a:prstGeom prst="roundRect">
            <a:avLst/>
          </a:prstGeom>
          <a:solidFill>
            <a:srgbClr val="FAFCFE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28303A"/>
                </a:solidFill>
                <a:latin typeface="Consolas"/>
              </a:rPr>
              <a:t>from sklearn.neighbors import NearestNeighbors
min_samples = 5
neighbors = NearestNeighbors(
    n_neighbors=min_samples,
    metric="euclidean"
)
neighbors.fit(X_scaled)
distances, indices = neighbors.kneighbors(X_scaled)
k_distances = np.sort(distances[:, -1])
plt.figure(figsize=(9, 5))
plt.plot(k_distances)
plt.xlabel("Points sorted by k-distance")
plt.ylabel("Distance to 5th nearest neighbor")
plt.title("DBSCAN Epsilon Selection")
plt.grid(alpha=0.3)
plt.show()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Customer segmentation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Possible features: Annual Income and Spending Score.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Load customers.csv and select the numerical columns.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Drop or impute missing values, then standardize the selected features.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Fit DBSCAN and attach the predicted cluster labels to the retained observations.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Profile clusters by spending and income; report the number of clusters and noise proportion.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Treat noise as unusual behavior, not automatically as a bad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Python code: customer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0">
                <a:solidFill>
                  <a:srgbClr val="5F6C7A"/>
                </a:solidFill>
                <a:latin typeface="Aptos"/>
              </a:rPr>
              <a:t>Illustrative parameters; tune for the actual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663440"/>
          </a:xfrm>
          <a:prstGeom prst="roundRect">
            <a:avLst/>
          </a:prstGeom>
          <a:solidFill>
            <a:srgbClr val="FAFCFE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6988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00">
                <a:solidFill>
                  <a:srgbClr val="28303A"/>
                </a:solidFill>
                <a:latin typeface="Consolas"/>
              </a:rPr>
              <a:t>df = pd.read_csv("customers.csv")
features = ["Annual Income", "Spending Score"]
customer_data = df[features].dropna().copy()
scaler = StandardScaler()
X_customer = scaler.fit_transform(customer_data)
model = DBSCAN(eps=0.35, min_samples=5)
customer_labels = model.fit_predict(X_customer)
customer_data["Cluster"] = customer_labels
print(customer_data["Cluster"].value_counts().sort_index())
for label in sorted(customer_data["Cluster"].unique()):
    mask = customer_data["Cluster"] == label
    name = "Noise" if label == -1 else f"Cluster {label}"
    plt.scatter(
        customer_data.loc[mask, "Annual Income"],
        customer_data.loc[mask, "Spending Score"],
        s=40, label=name
    )
plt.xlabel("Annual Income")
plt.ylabel("Spending Score")
plt.title("DBSCAN Customer Segmentation")
plt.legend()
plt.show()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DBSCAN vs K-Means vs Hierarchical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0876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2834640"/>
                <a:gridCol w="301752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54864" marB="54864">
                    <a:solidFill>
                      <a:srgbClr val="18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DBSCAN</a:t>
                      </a:r>
                    </a:p>
                  </a:txBody>
                  <a:tcPr marL="73152" marR="73152" marT="54864" marB="54864">
                    <a:solidFill>
                      <a:srgbClr val="18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K-Means</a:t>
                      </a:r>
                    </a:p>
                  </a:txBody>
                  <a:tcPr marL="73152" marR="73152" marT="54864" marB="54864">
                    <a:solidFill>
                      <a:srgbClr val="182A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Hierarchical</a:t>
                      </a:r>
                    </a:p>
                  </a:txBody>
                  <a:tcPr marL="73152" marR="73152" marT="54864" marB="54864">
                    <a:solidFill>
                      <a:srgbClr val="182A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Clusters known in advance?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Usually choose a cut/count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Irregular shapes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Good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Limited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Depends on linkage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Noise detection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Explicit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Not inherent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Main parameters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eps, min_samples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n_clusters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Linkage, distance, cut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Scaling sensitivity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Usually high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Density variation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Can struggle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Can struggle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Depends on method</a:t>
                      </a:r>
                    </a:p>
                  </a:txBody>
                  <a:tcPr marL="73152" marR="73152" marT="54864" marB="54864"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Advantages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Advantages: no need to predefine the number of clusters.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Can identify non-convex shapes and explicitly label noise.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Limitations: parameter selection may be difficult and results depend on feature scaling.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 single eps may not fit clusters with very different densities.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Distance can become less informative in high-dimensional data.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Consider OPTICS or HDBSCAN when density varies substantially.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700" b="1">
                <a:solidFill>
                  <a:srgbClr val="182A48"/>
                </a:solidFill>
                <a:latin typeface="Aptos"/>
              </a:rPr>
              <a:t>Best practices and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22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Inspect and clean the data before clustering.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Scale features when units or ranges differ.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 a k-distance plot to suggest eps, not to determine it blindly.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Experiment with min_samples and compare resulting cluster structures.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Report cluster counts, noise percentage and domain-specific interpretations.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 silhouette score alongside visual and domain-based checks, not as the sole decision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0">
                <a:solidFill>
                  <a:srgbClr val="5F6C7A"/>
                </a:solidFill>
                <a:latin typeface="Aptos"/>
              </a:rPr>
              <a:t>DBSCAN • Density-Based Spatial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1000" b="0">
                <a:solidFill>
                  <a:srgbClr val="5F6C7A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14984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DBSCAN discovers groups from local density.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eps sets the neighborhood radius; min_samples sets the density threshold.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Core points expand clusters, border points join them, and noise receives label −1.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Scaling and parameter selection strongly affect the result.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Start with make_moons, vary eps, and observe cluster 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400" b="0">
                <a:solidFill>
                  <a:srgbClr val="B6C7DB"/>
                </a:solidFill>
                <a:latin typeface="Aptos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