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C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961120" y="914400"/>
            <a:ext cx="128016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41280" y="914400"/>
            <a:ext cx="0" cy="9144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41280" y="1828800"/>
            <a:ext cx="100584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0" y="2926080"/>
            <a:ext cx="73152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75520" y="2926080"/>
            <a:ext cx="0" cy="822959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75520" y="3749039"/>
            <a:ext cx="146304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5029200"/>
            <a:ext cx="100584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0" y="5029200"/>
            <a:ext cx="0" cy="64008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5669280"/>
            <a:ext cx="146304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961120" y="822960"/>
            <a:ext cx="146304" cy="146304"/>
          </a:xfrm>
          <a:prstGeom prst="ellipse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0" y="173736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283464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3657600"/>
            <a:ext cx="146304" cy="146304"/>
          </a:xfrm>
          <a:prstGeom prst="ellipse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52560" y="493776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75720" y="5577840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86868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8DDAD5"/>
                </a:solidFill>
                <a:latin typeface="Aptos"/>
              </a:defRPr>
            </a:pPr>
            <a:r>
              <a:t>UNSUPERVISED LEARNING  / 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08760"/>
            <a:ext cx="73152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Hierarchical</a:t>
            </a:r>
          </a:p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Clustering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7132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2EBF5"/>
                </a:solidFill>
                <a:latin typeface="Aptos"/>
              </a:defRPr>
            </a:pPr>
            <a:r>
              <a:t>Concepts • Linkage methods • Dendrograms • Python hands-on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72000"/>
            <a:ext cx="914400" cy="64008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7132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Customer segmentation with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26480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9C8DA"/>
                </a:solidFill>
                <a:latin typeface="Aptos"/>
              </a:defRPr>
            </a:pPr>
            <a:r>
              <a:t>Teaching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By the end of this session, students should be able to…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400800" cy="42976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Explain hierarchical clustering and why it is an unsupervised method.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Distinguish agglomerative (bottom-up) and divisive (top-down) approaches.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Calculate and interpret distances between observations and clusters.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Compare single, complete, average and Ward linkage.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Read a dendrogram and choose a practical cluster cut.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Implement clustering in Python and evaluate cluster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566160" cy="35661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2834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F918C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06040"/>
            <a:ext cx="2743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A2C48"/>
                </a:solidFill>
                <a:latin typeface="Aptos"/>
              </a:defRPr>
            </a:pPr>
            <a:r>
              <a:t>Build a hierarchy of groups, then decide where to cut the tree.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6052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Unlike K-Means, the hierarchy can be explored at several levels of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What is hierarchical clustering?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tree-based approach for grouping similar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A2C48"/>
                </a:solidFill>
                <a:latin typeface="Aptos"/>
              </a:defRPr>
            </a:pPr>
            <a:r>
              <a:t>Hierarchical clustering groups observations based on their similarity and records how groups are formed.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3429000" cy="109728"/>
          </a:xfrm>
          <a:prstGeom prst="rect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3168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A2C48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880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Each row starts as an individual item (in agglomerative clustering).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743200"/>
            <a:ext cx="3429000" cy="109728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918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661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A2C48"/>
                </a:solidFill>
                <a:latin typeface="Aptos"/>
              </a:defRPr>
            </a:pPr>
            <a:r>
              <a:t>Merges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023360"/>
            <a:ext cx="2880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The closest eligible clusters are joined using a distance + linkage rule.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7432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743200"/>
            <a:ext cx="3429000" cy="109728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E6913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5661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A2C48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023360"/>
            <a:ext cx="2880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Repeated merges create a tree called a dendrogram.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4748B"/>
                </a:solidFill>
                <a:latin typeface="Aptos"/>
              </a:defRPr>
            </a:pPr>
            <a:r>
              <a:t>Typical applications: customer segmentation, document grouping, biology, exploratory data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Two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Agglomerative is the most commonly used approach in scikit-learn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918C"/>
                </a:solidFill>
                <a:latin typeface="Aptos"/>
              </a:defRPr>
            </a:pPr>
            <a:r>
              <a:t>AGGLOMERATIVE  •  BOTTOM-UP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Start with one cluster per observation.</a:t>
            </a:r>
          </a:p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Merge the closest clusters repeatedly.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320040" cy="320040"/>
          </a:xfrm>
          <a:prstGeom prst="ellipse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3657600"/>
            <a:ext cx="320040" cy="320040"/>
          </a:xfrm>
          <a:prstGeom prst="ellipse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3657600"/>
            <a:ext cx="320040" cy="320040"/>
          </a:xfrm>
          <a:prstGeom prst="ellipse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80" y="3657600"/>
            <a:ext cx="320040" cy="320040"/>
          </a:xfrm>
          <a:prstGeom prst="ellipse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3657600"/>
            <a:ext cx="320040" cy="320040"/>
          </a:xfrm>
          <a:prstGeom prst="ellipse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41648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  B   C   D   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A+B      C+D      E       →       larger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9164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69138"/>
                </a:solidFill>
                <a:latin typeface="Aptos"/>
              </a:defRPr>
            </a:pPr>
            <a:r>
              <a:t>DIVISIVE  •  TOP-DOWN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Start with all observations in one cluster.</a:t>
            </a:r>
          </a:p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Split groups into smaller clusters.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657600"/>
            <a:ext cx="3474720" cy="4114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72160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A  B  C  D  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480560"/>
            <a:ext cx="1463040" cy="4114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553712"/>
            <a:ext cx="1188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A 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480560"/>
            <a:ext cx="1463040" cy="41148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553712"/>
            <a:ext cx="1280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C  D 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6636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Divisive methods can be more computationally demanding, depending on how splits are chosen.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Agglomerative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greedy sequence of 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4767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Each observation is its own cluster.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94767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4767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41448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Calculate pairwise distances.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94767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94767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41448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Find the closest clusters under the linkage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13631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13631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07407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Join the selected clusters.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749039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913631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913631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07407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Recalculate distances to the new cluster.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749039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913631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913631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407407"/>
            <a:ext cx="2926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Continue until one cluster remains or a stopping rule is met.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Distance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distance metric defines how dissimilar two observations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CORE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A2C48"/>
                </a:solidFill>
                <a:latin typeface="Aptos"/>
              </a:defRPr>
            </a:pPr>
            <a:r>
              <a:t>Euclidean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4748B"/>
                </a:solidFill>
                <a:latin typeface="Aptos"/>
              </a:defRPr>
            </a:pPr>
            <a:r>
              <a:t>For P = (x₁, y₁) and Q = (x₂, y₂):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168AA"/>
                </a:solidFill>
                <a:latin typeface="Aptos"/>
              </a:defRPr>
            </a:pPr>
            <a:r>
              <a:t>d(P,Q) = √[(x₂ − x₁)² + (y₂ − y₁)²]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63238"/>
                </a:solidFill>
                <a:latin typeface="Aptos"/>
              </a:defRPr>
            </a:pPr>
            <a:r>
              <a:t>Example: P = (2, 3), Q = (5,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Distance = √(3² + 4²) = √25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12064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Other useful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918C"/>
                </a:solidFill>
                <a:latin typeface="Aptos"/>
              </a:defRPr>
            </a:pPr>
            <a:r>
              <a:t>Manhattan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Sum of absolute coordinate differences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7472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918C"/>
                </a:solidFill>
                <a:latin typeface="Aptos"/>
              </a:defRPr>
            </a:pPr>
            <a:r>
              <a:t>Cosine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74720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Based on the angle between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8912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F918C"/>
                </a:solidFill>
                <a:latin typeface="Aptos"/>
              </a:defRPr>
            </a:pPr>
            <a:r>
              <a:t>Hamming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2651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Counts differing positions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44068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For numerical customer data, scaled Euclidean distance is a sensible starting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Why scale the features?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Distance-based algorithms can be dominated by large numeric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0749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BE4C4C"/>
                </a:solidFill>
                <a:latin typeface="Aptos"/>
              </a:defRPr>
            </a:pPr>
            <a:r>
              <a:t>Without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343400" cy="21031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Annual income may range into tens of thousands.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Age may range only from 18 to 80.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Income can dominate the distance calculation.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0749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8E60"/>
                </a:solidFill>
                <a:latin typeface="Aptos"/>
              </a:defRPr>
            </a:pPr>
            <a:r>
              <a:t>With StandardScaler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343400" cy="21031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Each feature is centered around mean 0.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Each feature is scaled to standard deviation 1.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Features contribute on a more comparable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Scaling does not remove outliers or make every feature equally important in a business sense.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Linkage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How do we calculate distance between two clusters?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CORE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09728" cy="1691640"/>
          </a:xfrm>
          <a:prstGeom prst="rect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2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168AA"/>
                </a:solidFill>
                <a:latin typeface="Aptos"/>
              </a:defRPr>
            </a:pPr>
            <a:r>
              <a:t>Single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Minimum cross-cluster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Can create chaining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4526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D(A,B) = min d(a,b)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1691640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87452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F918C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8745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Maximum cross-cluster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37744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Often favors compact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834640"/>
            <a:ext cx="4526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D(A,B) = max d(a,b)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49039"/>
            <a:ext cx="109728" cy="1691640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3192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E69138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9319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Mean of all cross-cluster pair distances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Compromise between single and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4526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Mean pairwise distance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5212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749039"/>
            <a:ext cx="109728" cy="1691640"/>
          </a:xfrm>
          <a:prstGeom prst="rect">
            <a:avLst/>
          </a:prstGeom>
          <a:solidFill>
            <a:srgbClr val="388E60"/>
          </a:solidFill>
          <a:ln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93192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8E60"/>
                </a:solidFill>
                <a:latin typeface="Aptos"/>
              </a:defRPr>
            </a:pPr>
            <a:r>
              <a:t>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93192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Smallest increase in within-cluster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43484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Often compact, low-variance groups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892040"/>
            <a:ext cx="4526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Minimize Δ within-cluster 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Ward linkage is commonly paired with Euclidean distance for scaled numerical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Reading a dendrogram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merge height shows the dissimilarity at which groups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5376672"/>
            <a:ext cx="274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64748B"/>
                </a:solidFill>
                <a:latin typeface="Aptos"/>
              </a:defRPr>
            </a:pPr>
            <a:r>
              <a:t>F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371600" y="4206240"/>
            <a:ext cx="0" cy="100584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4560" y="4206240"/>
            <a:ext cx="0" cy="100584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71600" y="4206240"/>
            <a:ext cx="822960" cy="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17520" y="3840480"/>
            <a:ext cx="0" cy="137160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40480" y="3840480"/>
            <a:ext cx="0" cy="137160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3840480"/>
            <a:ext cx="822960" cy="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783080" y="2743200"/>
            <a:ext cx="0" cy="146304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29000" y="2743200"/>
            <a:ext cx="0" cy="109728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83080" y="2743200"/>
            <a:ext cx="1645920" cy="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440" y="4389120"/>
            <a:ext cx="0" cy="82296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86400" y="4389120"/>
            <a:ext cx="0" cy="82296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63440" y="4389120"/>
            <a:ext cx="822960" cy="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06040" y="2011680"/>
            <a:ext cx="0" cy="73152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074920" y="2011680"/>
            <a:ext cx="0" cy="237744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40" y="2011680"/>
            <a:ext cx="2468880" cy="0"/>
          </a:xfrm>
          <a:prstGeom prst="line">
            <a:avLst/>
          </a:prstGeom>
          <a:ln w="25400">
            <a:solidFill>
              <a:srgbClr val="31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0120" y="3429000"/>
            <a:ext cx="5029200" cy="0"/>
          </a:xfrm>
          <a:prstGeom prst="line">
            <a:avLst/>
          </a:prstGeom>
          <a:ln w="25400">
            <a:solidFill>
              <a:srgbClr val="E691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26480" y="3273552"/>
            <a:ext cx="1005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E69138"/>
                </a:solidFill>
                <a:latin typeface="Aptos"/>
              </a:defRPr>
            </a:pPr>
            <a:r>
              <a:t>Cut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828800"/>
            <a:ext cx="3840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A2C48"/>
                </a:solidFill>
                <a:latin typeface="Aptos"/>
              </a:defRPr>
            </a:pPr>
            <a:r>
              <a:t>A horizontal cut intersects branches to define clusters.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743200"/>
            <a:ext cx="4114800" cy="228600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Leaves represent individual observations.</a:t>
            </a:r>
          </a:p>
          <a:p>
            <a:pPr>
              <a:spcAft>
                <a:spcPts val="10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Branches show which groups merge.</a:t>
            </a:r>
          </a:p>
          <a:p>
            <a:pPr>
              <a:spcAft>
                <a:spcPts val="10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Large vertical gaps can suggest useful cut heights.</a:t>
            </a:r>
          </a:p>
          <a:p>
            <a:pPr>
              <a:spcAft>
                <a:spcPts val="10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The best cut also depends on cluster usefulness.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48640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Illustrative dendrogram only — not generated from a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How many clusters?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Build the hierarchy first, then select a useful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0241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37160" cy="868680"/>
          </a:xfrm>
          <a:prstGeom prst="rect">
            <a:avLst/>
          </a:prstGeom>
          <a:solidFill>
            <a:srgbClr val="3168AA"/>
          </a:solidFill>
          <a:ln>
            <a:solidFill>
              <a:srgbClr val="31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93392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168AA"/>
                </a:solidFill>
                <a:latin typeface="Aptos"/>
              </a:defRPr>
            </a:pPr>
            <a:r>
              <a:t>Dendrogram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Look for a substantial gap in merge heights.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17520"/>
            <a:ext cx="10241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017520"/>
            <a:ext cx="137160" cy="868680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182112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F918C"/>
                </a:solidFill>
                <a:latin typeface="Aptos"/>
              </a:defRPr>
            </a:pPr>
            <a:r>
              <a:t>Silhouette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82112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Compare candidate cluster counts; higher is generally better.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06240"/>
            <a:ext cx="10241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206240"/>
            <a:ext cx="137160" cy="868680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70831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69138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70831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Prefer segments that are interpretable and actionable.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77840"/>
            <a:ext cx="10058400" cy="5029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687568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A2C48"/>
                </a:solidFill>
                <a:latin typeface="Aptos"/>
              </a:defRPr>
            </a:pPr>
            <a:r>
              <a:t>A chosen K is a candidate, not a guaranteed optimum. Check cluster sizes and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Python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Libraries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315200" cy="448056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685800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from sklearn.cluster import AgglomerativeClustering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from sklearn.metrics import silhouette_score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from scipy.cluster.hierarchy import linkage, dendrogram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df = pd.read_csv("customers.csv")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features = ["Age", "Annual Income", "Spending Score"]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X = df[features].dropna()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500"/>
              </a:spcAft>
              <a:defRPr sz="1400" b="0">
                <a:solidFill>
                  <a:srgbClr val="E7EEF6"/>
                </a:solidFill>
                <a:latin typeface="Consolas"/>
              </a:defRPr>
            </a:pPr>
            <a:r>
              <a:t>X_scaled = scaler.fit_transform(X)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783080"/>
            <a:ext cx="28346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0574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What happens 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06040"/>
            <a:ext cx="2194560" cy="237744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Load the CSV.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Select numeric columns.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Remove rows with missing feature values.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Scale the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57800"/>
            <a:ext cx="2194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Expected columns: Age, Annual Income, Spending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Python: create the dendrogram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SciPy's linkage builds the merge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7132320" cy="44348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658368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Z = linkage(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X_scaled,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method="ward",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metric="euclidean"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plt.figure(figsize=(12, 6))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dendrogram(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Z,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truncate_mode="lastp",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p=30,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    show_leaf_counts=True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plt.title("Hierarchical Clustering Dendrogram")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plt.xlabel("Customer groups")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plt.ylabel("Ward linkage distance")</a:t>
            </a:r>
          </a:p>
          <a:p>
            <a:pPr>
              <a:spcAft>
                <a:spcPts val="500"/>
              </a:spcAft>
              <a:defRPr sz="1500" b="0">
                <a:solidFill>
                  <a:srgbClr val="E7EEF6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83080"/>
            <a:ext cx="3154680" cy="3977639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5740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Key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2514600" cy="265176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method='ward': minimize increase in within-cluster variance.</a:t>
            </a:r>
          </a:p>
          <a:p>
            <a:pPr>
              <a:spcAft>
                <a:spcPts val="9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metric='euclidean': use straight-line distance.</a:t>
            </a:r>
          </a:p>
          <a:p>
            <a:pPr>
              <a:spcAft>
                <a:spcPts val="9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truncate_mode='lastp': simplify large trees.</a:t>
            </a:r>
          </a:p>
          <a:p>
            <a:pPr>
              <a:spcAft>
                <a:spcPts val="9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p=30: show the final 30 merged groups.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Python: fit and evaluate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Assign cluster labels and inspect the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7315200" cy="4297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k = 4  # example; choose after inspecting results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model = AgglomerativeClustering(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n_clusters=k,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metric="euclidean",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linkage="ward"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labels = model.fit_predict(X_scaled)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df_clustered = df.loc[X.index].copy()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df_clustered["Cluster"] = labels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print("Silhouette:",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  silhouette_score(X_scaled, labels))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print(df_clustered.groupby("Cluster")[features].mean())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plt.figure(figsize=(8, 5))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plt.scatter(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df_clustered["Annual Income"],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df_clustered["Spending Score"],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    c=labels, cmap="viridis"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plt.xlabel("Annual Income")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plt.ylabel("Spending Score")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plt.title("Hierarchical Customer Segments")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plt.colorbar(label="Cluster")</a:t>
            </a:r>
          </a:p>
          <a:p>
            <a:pPr>
              <a:spcAft>
                <a:spcPts val="500"/>
              </a:spcAft>
              <a:defRPr sz="1200" b="0">
                <a:solidFill>
                  <a:srgbClr val="E7EEF6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28800"/>
            <a:ext cx="24231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0312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A2C48"/>
                </a:solidFill>
                <a:latin typeface="Aptos"/>
              </a:defRPr>
            </a:pPr>
            <a:r>
              <a:t>Interpret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606040"/>
            <a:ext cx="1828800" cy="237744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Compare cluster averages.</a:t>
            </a:r>
          </a:p>
          <a:p>
            <a:pPr>
              <a:spcAft>
                <a:spcPts val="10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Check silhouette score.</a:t>
            </a:r>
          </a:p>
          <a:p>
            <a:pPr>
              <a:spcAft>
                <a:spcPts val="10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Inspect the scatter plot.</a:t>
            </a:r>
          </a:p>
          <a:p>
            <a:pPr>
              <a:spcAft>
                <a:spcPts val="10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 Give clusters meaningful business names.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074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Note: cluster IDs are arbitrary labels, not rankings.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Silhouette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compact summary of cohesion and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48006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4023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A2C48"/>
                </a:solidFill>
                <a:latin typeface="Aptos"/>
              </a:defRPr>
            </a:pPr>
            <a:r>
              <a:t>Score range: −1 to +1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926080"/>
            <a:ext cx="3840480" cy="32004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2926080"/>
            <a:ext cx="1280160" cy="320040"/>
          </a:xfrm>
          <a:prstGeom prst="roundRect">
            <a:avLst>
              <a:gd name="adj" fmla="val 12000"/>
            </a:avLst>
          </a:prstGeom>
          <a:solidFill>
            <a:srgbClr val="BE4C4C"/>
          </a:solidFill>
          <a:ln>
            <a:solidFill>
              <a:srgbClr val="B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2926080"/>
            <a:ext cx="1280160" cy="320040"/>
          </a:xfrm>
          <a:prstGeom prst="roundRect">
            <a:avLst>
              <a:gd name="adj" fmla="val 12000"/>
            </a:avLst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4760" y="2926080"/>
            <a:ext cx="1280160" cy="320040"/>
          </a:xfrm>
          <a:prstGeom prst="roundRect">
            <a:avLst>
              <a:gd name="adj" fmla="val 12000"/>
            </a:avLst>
          </a:prstGeom>
          <a:solidFill>
            <a:srgbClr val="388E60"/>
          </a:solidFill>
          <a:ln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64748B"/>
                </a:solidFill>
                <a:latin typeface="Aptos"/>
              </a:defRPr>
            </a:pPr>
            <a:r>
              <a:t>−1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38328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4748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4748B"/>
                </a:solidFill>
                <a:latin typeface="Aptos"/>
              </a:defRPr>
            </a:pPr>
            <a:r>
              <a:t>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77639"/>
            <a:ext cx="3931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Higher positive scores generally indicate better separation and cohesion.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37360"/>
            <a:ext cx="5029200" cy="347472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918C"/>
                </a:solidFill>
                <a:latin typeface="Aptos"/>
              </a:defRPr>
            </a:pPr>
            <a:r>
              <a:t>Use it carefully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4251960" cy="228600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Compare candidate K values using the same scaled features.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A high score does not guarantee business usefulness.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Check cluster sizes, stability and domain interpretation.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 Silhouette score requires at least 2 clusters and fewer clusters than observations.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For K = 1, silhouette score is undefined.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Hierarchical clustering vs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Choose the method based on the task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2148840" cy="502920"/>
          </a:xfrm>
          <a:prstGeom prst="rect">
            <a:avLst/>
          </a:prstGeom>
          <a:solidFill>
            <a:srgbClr val="1A2C48"/>
          </a:solidFill>
          <a:ln>
            <a:solidFill>
              <a:srgbClr val="1A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19293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737360"/>
            <a:ext cx="3931920" cy="502920"/>
          </a:xfrm>
          <a:prstGeom prst="rect">
            <a:avLst/>
          </a:prstGeom>
          <a:solidFill>
            <a:srgbClr val="1A2C48"/>
          </a:solidFill>
          <a:ln>
            <a:solidFill>
              <a:srgbClr val="1A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847088"/>
            <a:ext cx="371246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737360"/>
            <a:ext cx="3931920" cy="502920"/>
          </a:xfrm>
          <a:prstGeom prst="rect">
            <a:avLst/>
          </a:prstGeom>
          <a:solidFill>
            <a:srgbClr val="1A2C48"/>
          </a:solidFill>
          <a:ln>
            <a:solidFill>
              <a:srgbClr val="1A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847088"/>
            <a:ext cx="371246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Hierarchical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04288"/>
            <a:ext cx="21488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414016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304288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2414016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Partition-based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04288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414016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Hierarchy-based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916936"/>
            <a:ext cx="214884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026664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Choose 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916936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1528" y="3026664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Before fitting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916936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3026664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After building tree / choose cut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529584"/>
            <a:ext cx="21488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639312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3529584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3639312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Labels + centroids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529584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639312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Labels + dendrogram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142232"/>
            <a:ext cx="214884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251960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Large datasets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142232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81528" y="4251960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Often more scalable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142232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4251960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Can be more expensive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754880"/>
            <a:ext cx="21488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864608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Best suited 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4754880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81528" y="4864608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Compact, centroid-based groups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754880"/>
            <a:ext cx="39319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9168" y="4864608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Exploring nested relationships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67528"/>
            <a:ext cx="214884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5477256"/>
            <a:ext cx="1929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A2C48"/>
                </a:solidFill>
                <a:latin typeface="Aptos"/>
              </a:defRPr>
            </a:pPr>
            <a:r>
              <a:t>Reassignment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5367528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81528" y="5477256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Points can change during iterations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5367528"/>
            <a:ext cx="3931920" cy="557784"/>
          </a:xfrm>
          <a:prstGeom prst="rect">
            <a:avLst/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5477256"/>
            <a:ext cx="371246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Agglomerative merges are not undone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989320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Neither method is universally best. Scaling and validation matter for both.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Strengths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Know when hierarchical clustering is a good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2120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88E60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389120" cy="25603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Does not require K to build the hierarchy.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Dendrogram makes merging relationships visible.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Can reveal nested groups.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Offers multiple linkage and distance choices.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120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BE4C4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389120" cy="25603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May be expensive for large datasets.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Sensitive to distance, linkage and scaling choices.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Early agglomerative merges are not reversed.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 The final cut can require judgment.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Classroom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Customer segmentation mini-exercise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918C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A2C48"/>
                </a:solidFill>
                <a:latin typeface="Aptos"/>
              </a:defRPr>
            </a:pPr>
            <a:r>
              <a:t>Use a customer dataset with Age, Annual Income and Spending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6766560" cy="292608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Scale the three features.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Build a Ward dendrogram and identify a plausible cut.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Fit agglomerative clustering for K = 2 through 8.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Compare silhouette scores and cluster sizes.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Describe each segment using feature averages.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Recommend one marketing action for each segment.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743200"/>
            <a:ext cx="3017520" cy="2194560"/>
          </a:xfrm>
          <a:prstGeom prst="roundRect">
            <a:avLst>
              <a:gd name="adj" fmla="val 12000"/>
            </a:avLst>
          </a:prstGeom>
          <a:solidFill>
            <a:srgbClr val="EFF5FA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06324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F918C"/>
                </a:solidFill>
                <a:latin typeface="Aptos"/>
              </a:defRPr>
            </a:pPr>
            <a:r>
              <a:t>Discussion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66160"/>
            <a:ext cx="2331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A2C48"/>
                </a:solidFill>
                <a:latin typeface="Aptos"/>
              </a:defRPr>
            </a:pPr>
            <a:r>
              <a:t>Would you choose the highest silhouette score automatically? Why or why not?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A2C48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F918C"/>
          </a:solidFill>
          <a:ln>
            <a:solidFill>
              <a:srgbClr val="1F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881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students should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F918C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UNSUPERVISED LEARNING  •  HIERARCHICAL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7498079" cy="411480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Hierarchical clustering builds a nested structure of clusters.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Agglomerative clustering merges the closest clusters step by step.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Distance metrics and linkage methods determine what “close” means.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A dendrogram helps visualize the hierarchy and choose a cut.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Use scaling, silhouette scores and business interpretation together.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Next: DBSCAN for density-based clusters and PCA for dimensionality reduction.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057400"/>
            <a:ext cx="2286000" cy="2286000"/>
          </a:xfrm>
          <a:prstGeom prst="roundRect">
            <a:avLst>
              <a:gd name="adj" fmla="val 12000"/>
            </a:avLst>
          </a:prstGeom>
          <a:solidFill>
            <a:srgbClr val="1A2C48"/>
          </a:solidFill>
          <a:ln>
            <a:solidFill>
              <a:srgbClr val="1A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2834640"/>
            <a:ext cx="18288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